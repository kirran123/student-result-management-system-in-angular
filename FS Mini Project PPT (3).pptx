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88" r:id="rId9"/>
    <p:sldId id="279" r:id="rId10"/>
    <p:sldId id="258" r:id="rId11"/>
    <p:sldId id="278" r:id="rId12"/>
    <p:sldId id="277" r:id="rId13"/>
    <p:sldId id="276" r:id="rId14"/>
    <p:sldId id="280" r:id="rId15"/>
    <p:sldId id="284" r:id="rId16"/>
    <p:sldId id="285" r:id="rId17"/>
    <p:sldId id="286" r:id="rId18"/>
    <p:sldId id="287" r:id="rId19"/>
    <p:sldId id="281" r:id="rId20"/>
    <p:sldId id="283" r:id="rId21"/>
    <p:sldId id="266" r:id="rId22"/>
  </p:sldIdLst>
  <p:sldSz cx="18288000" cy="10287000"/>
  <p:notesSz cx="6858000" cy="9144000"/>
  <p:embeddedFontLst>
    <p:embeddedFont>
      <p:font typeface="Alexandria Bold" panose="020B0604020202020204" charset="-78"/>
      <p:regular r:id="rId23"/>
    </p:embeddedFont>
    <p:embeddedFont>
      <p:font typeface="Garet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-29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106781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36588" y="2684873"/>
            <a:ext cx="13652169" cy="17922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IN" sz="7200" dirty="0"/>
              <a:t>Student Result Management System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296400" y="5268337"/>
            <a:ext cx="8382001" cy="4303226"/>
            <a:chOff x="0" y="-38100"/>
            <a:chExt cx="1303287" cy="23824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03287" cy="200146"/>
            </a:xfrm>
            <a:custGeom>
              <a:avLst/>
              <a:gdLst/>
              <a:ahLst/>
              <a:cxnLst/>
              <a:rect l="l" t="t" r="r" b="b"/>
              <a:pathLst>
                <a:path w="1238537" h="185715">
                  <a:moveTo>
                    <a:pt x="92858" y="0"/>
                  </a:moveTo>
                  <a:lnTo>
                    <a:pt x="1145680" y="0"/>
                  </a:lnTo>
                  <a:cubicBezTo>
                    <a:pt x="1196964" y="0"/>
                    <a:pt x="1238537" y="41574"/>
                    <a:pt x="1238537" y="92858"/>
                  </a:cubicBezTo>
                  <a:lnTo>
                    <a:pt x="1238537" y="92858"/>
                  </a:lnTo>
                  <a:cubicBezTo>
                    <a:pt x="1238537" y="117485"/>
                    <a:pt x="1228754" y="141104"/>
                    <a:pt x="1211340" y="158518"/>
                  </a:cubicBezTo>
                  <a:cubicBezTo>
                    <a:pt x="1193926" y="175932"/>
                    <a:pt x="1170307" y="185715"/>
                    <a:pt x="1145680" y="185715"/>
                  </a:cubicBezTo>
                  <a:lnTo>
                    <a:pt x="92858" y="185715"/>
                  </a:lnTo>
                  <a:cubicBezTo>
                    <a:pt x="68230" y="185715"/>
                    <a:pt x="44612" y="175932"/>
                    <a:pt x="27197" y="158518"/>
                  </a:cubicBezTo>
                  <a:cubicBezTo>
                    <a:pt x="9783" y="141104"/>
                    <a:pt x="0" y="117485"/>
                    <a:pt x="0" y="92858"/>
                  </a:cubicBezTo>
                  <a:lnTo>
                    <a:pt x="0" y="92858"/>
                  </a:lnTo>
                  <a:cubicBezTo>
                    <a:pt x="0" y="68230"/>
                    <a:pt x="9783" y="44612"/>
                    <a:pt x="27197" y="27197"/>
                  </a:cubicBezTo>
                  <a:cubicBezTo>
                    <a:pt x="44612" y="9783"/>
                    <a:pt x="68230" y="0"/>
                    <a:pt x="92858" y="0"/>
                  </a:cubicBezTo>
                  <a:close/>
                </a:path>
              </a:pathLst>
            </a:custGeom>
            <a:solidFill>
              <a:srgbClr val="545454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38538" cy="22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7"/>
                </a:lnSpc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443FC1A-A3D9-AD15-D9AB-62D3AD0A0BA7}"/>
              </a:ext>
            </a:extLst>
          </p:cNvPr>
          <p:cNvSpPr txBox="1"/>
          <p:nvPr/>
        </p:nvSpPr>
        <p:spPr>
          <a:xfrm>
            <a:off x="9721997" y="6176817"/>
            <a:ext cx="8088240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Developed By:</a:t>
            </a:r>
          </a:p>
          <a:p>
            <a:r>
              <a:rPr lang="en-US" sz="4400" dirty="0" err="1">
                <a:solidFill>
                  <a:schemeClr val="bg1"/>
                </a:solidFill>
              </a:rPr>
              <a:t>Kirran</a:t>
            </a:r>
            <a:r>
              <a:rPr lang="en-US" sz="4400" dirty="0">
                <a:solidFill>
                  <a:schemeClr val="bg1"/>
                </a:solidFill>
              </a:rPr>
              <a:t> S T (953623205025)</a:t>
            </a:r>
          </a:p>
          <a:p>
            <a:r>
              <a:rPr lang="en-US" sz="4400" dirty="0">
                <a:solidFill>
                  <a:schemeClr val="bg1"/>
                </a:solidFill>
              </a:rPr>
              <a:t>Harish Krishnan P (953623205018)</a:t>
            </a:r>
          </a:p>
          <a:p>
            <a:r>
              <a:rPr lang="en-US" sz="4400" dirty="0">
                <a:solidFill>
                  <a:schemeClr val="bg1"/>
                </a:solidFill>
              </a:rPr>
              <a:t>Balashankar R (953623205006)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3A30CF-C32F-AFAB-E869-69D19EA229CD}"/>
              </a:ext>
            </a:extLst>
          </p:cNvPr>
          <p:cNvSpPr txBox="1"/>
          <p:nvPr/>
        </p:nvSpPr>
        <p:spPr>
          <a:xfrm>
            <a:off x="3041408" y="4672998"/>
            <a:ext cx="11582466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Technologies Used:</a:t>
            </a:r>
            <a:r>
              <a:rPr lang="en-US" sz="4400" dirty="0"/>
              <a:t> Angular, Express.js, MongoDB</a:t>
            </a:r>
            <a:endParaRPr lang="en-US" sz="4400" b="1" dirty="0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  <a:p>
            <a:endParaRPr lang="en-IN" dirty="0"/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925A50DA-D011-3465-B479-ACB90362DF23}"/>
              </a:ext>
            </a:extLst>
          </p:cNvPr>
          <p:cNvSpPr txBox="1"/>
          <p:nvPr/>
        </p:nvSpPr>
        <p:spPr>
          <a:xfrm>
            <a:off x="2239150" y="409348"/>
            <a:ext cx="12951349" cy="1751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6000" dirty="0"/>
              <a:t>I</a:t>
            </a:r>
            <a:r>
              <a:rPr lang="en-IN" sz="6000" dirty="0"/>
              <a:t>T3501-Full Stack Web Development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39753285-04A7-9942-9D2A-3F706C1D37FC}"/>
              </a:ext>
            </a:extLst>
          </p:cNvPr>
          <p:cNvSpPr txBox="1"/>
          <p:nvPr/>
        </p:nvSpPr>
        <p:spPr>
          <a:xfrm>
            <a:off x="5472543" y="1404089"/>
            <a:ext cx="7342914" cy="17922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IN" sz="6000" dirty="0"/>
              <a:t>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12672" y="989276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INTRODUCTION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0FCD0F-C4F1-3126-A9E6-64F5E5B5325F}"/>
              </a:ext>
            </a:extLst>
          </p:cNvPr>
          <p:cNvSpPr txBox="1"/>
          <p:nvPr/>
        </p:nvSpPr>
        <p:spPr>
          <a:xfrm>
            <a:off x="1826430" y="2730547"/>
            <a:ext cx="1453785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 web-based full stack application developed using the MEAN stack (MongoDB, Express.js, Angular, and Node.js)</a:t>
            </a:r>
          </a:p>
          <a:p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To automate the academic result management process in educational institutions.</a:t>
            </a:r>
          </a:p>
          <a:p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Students can log in to view their results while faculty can update result.</a:t>
            </a:r>
          </a:p>
          <a:p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Update, and manage student marks efficiently. This system ensures accuracy, transparency, and real-time access.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12672" y="989276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OBJECTIVES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5C5B2078-D8E1-644C-412F-863807745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049860"/>
            <a:ext cx="1284960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4000" dirty="0"/>
              <a:t>• Login for students and staff</a:t>
            </a:r>
          </a:p>
          <a:p>
            <a:pPr>
              <a:lnSpc>
                <a:spcPct val="200000"/>
              </a:lnSpc>
            </a:pPr>
            <a:r>
              <a:rPr lang="en-US" sz="4000" dirty="0"/>
              <a:t>• Support real-time result updates</a:t>
            </a:r>
          </a:p>
          <a:p>
            <a:pPr>
              <a:lnSpc>
                <a:spcPct val="200000"/>
              </a:lnSpc>
            </a:pPr>
            <a:r>
              <a:rPr lang="en-US" sz="4000" dirty="0"/>
              <a:t>• Reduce manual errors and paperwork</a:t>
            </a:r>
          </a:p>
          <a:p>
            <a:pPr>
              <a:lnSpc>
                <a:spcPct val="200000"/>
              </a:lnSpc>
            </a:pPr>
            <a:r>
              <a:rPr lang="en-US" sz="4000" dirty="0"/>
              <a:t>• Improve accessibility and transparency in result publication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252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7000" y="677245"/>
            <a:ext cx="13232328" cy="1267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54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EXISTING SYSTEM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1BD0F6-871C-59AC-10D6-5CA5E72AA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398997"/>
              </p:ext>
            </p:extLst>
          </p:nvPr>
        </p:nvGraphicFramePr>
        <p:xfrm>
          <a:off x="802170" y="2326136"/>
          <a:ext cx="15842808" cy="365760"/>
        </p:xfrm>
        <a:graphic>
          <a:graphicData uri="http://schemas.openxmlformats.org/drawingml/2006/table">
            <a:tbl>
              <a:tblPr/>
              <a:tblGrid>
                <a:gridCol w="7921404">
                  <a:extLst>
                    <a:ext uri="{9D8B030D-6E8A-4147-A177-3AD203B41FA5}">
                      <a16:colId xmlns:a16="http://schemas.microsoft.com/office/drawing/2014/main" val="1708437869"/>
                    </a:ext>
                  </a:extLst>
                </a:gridCol>
                <a:gridCol w="7921404">
                  <a:extLst>
                    <a:ext uri="{9D8B030D-6E8A-4147-A177-3AD203B41FA5}">
                      <a16:colId xmlns:a16="http://schemas.microsoft.com/office/drawing/2014/main" val="1046796039"/>
                    </a:ext>
                  </a:extLst>
                </a:gridCol>
              </a:tblGrid>
              <a:tr h="35934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33391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28FA76E-9A14-82E2-B600-6D400D716635}"/>
              </a:ext>
            </a:extLst>
          </p:cNvPr>
          <p:cNvSpPr txBox="1"/>
          <p:nvPr/>
        </p:nvSpPr>
        <p:spPr>
          <a:xfrm>
            <a:off x="3896043" y="2873092"/>
            <a:ext cx="12954000" cy="5823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• Manual or semi-digital systems using paper or Excel sheets</a:t>
            </a:r>
          </a:p>
          <a:p>
            <a:pPr>
              <a:lnSpc>
                <a:spcPct val="150000"/>
              </a:lnSpc>
            </a:pPr>
            <a:endParaRPr lang="en-US" sz="3600" dirty="0"/>
          </a:p>
          <a:p>
            <a:pPr>
              <a:lnSpc>
                <a:spcPct val="150000"/>
              </a:lnSpc>
            </a:pPr>
            <a:r>
              <a:rPr lang="en-US" sz="3600" dirty="0"/>
              <a:t>• Time-consuming and error-prone result calculation</a:t>
            </a:r>
          </a:p>
          <a:p>
            <a:pPr>
              <a:lnSpc>
                <a:spcPct val="150000"/>
              </a:lnSpc>
            </a:pPr>
            <a:endParaRPr lang="en-US" sz="3600" dirty="0"/>
          </a:p>
          <a:p>
            <a:pPr>
              <a:lnSpc>
                <a:spcPct val="150000"/>
              </a:lnSpc>
            </a:pPr>
            <a:r>
              <a:rPr lang="en-US" sz="3600" dirty="0"/>
              <a:t>• Data duplication and loss possible</a:t>
            </a:r>
          </a:p>
          <a:p>
            <a:pPr>
              <a:lnSpc>
                <a:spcPct val="150000"/>
              </a:lnSpc>
            </a:pPr>
            <a:endParaRPr lang="en-US" sz="3600" dirty="0"/>
          </a:p>
          <a:p>
            <a:pPr>
              <a:lnSpc>
                <a:spcPct val="150000"/>
              </a:lnSpc>
            </a:pPr>
            <a:r>
              <a:rPr lang="en-US" sz="3600" dirty="0"/>
              <a:t>• Lack of real-time updates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6759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7000" y="639552"/>
            <a:ext cx="13308528" cy="1355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PROPOSED SYSTEM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C9D3BF-1F78-C72F-6BE6-2040366BB979}"/>
              </a:ext>
            </a:extLst>
          </p:cNvPr>
          <p:cNvSpPr txBox="1"/>
          <p:nvPr/>
        </p:nvSpPr>
        <p:spPr>
          <a:xfrm>
            <a:off x="2683344" y="2658446"/>
            <a:ext cx="14918856" cy="7171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/>
              <a:t>• Web-based MEAN stack application</a:t>
            </a:r>
          </a:p>
          <a:p>
            <a:pPr>
              <a:lnSpc>
                <a:spcPct val="150000"/>
              </a:lnSpc>
            </a:pPr>
            <a:endParaRPr lang="en-US" sz="4000" dirty="0"/>
          </a:p>
          <a:p>
            <a:pPr>
              <a:lnSpc>
                <a:spcPct val="150000"/>
              </a:lnSpc>
            </a:pPr>
            <a:r>
              <a:rPr lang="en-US" sz="4000" dirty="0"/>
              <a:t>• Centralized MongoDB database for storing student and result data</a:t>
            </a:r>
          </a:p>
          <a:p>
            <a:pPr>
              <a:lnSpc>
                <a:spcPct val="150000"/>
              </a:lnSpc>
            </a:pPr>
            <a:endParaRPr lang="en-US" sz="4000" dirty="0"/>
          </a:p>
          <a:p>
            <a:pPr>
              <a:lnSpc>
                <a:spcPct val="150000"/>
              </a:lnSpc>
            </a:pPr>
            <a:r>
              <a:rPr lang="en-US" sz="4000" dirty="0"/>
              <a:t>• Login for students and administrators</a:t>
            </a:r>
          </a:p>
          <a:p>
            <a:pPr>
              <a:lnSpc>
                <a:spcPct val="150000"/>
              </a:lnSpc>
            </a:pPr>
            <a:endParaRPr lang="en-US" sz="4000" dirty="0"/>
          </a:p>
          <a:p>
            <a:pPr>
              <a:lnSpc>
                <a:spcPct val="150000"/>
              </a:lnSpc>
            </a:pPr>
            <a:r>
              <a:rPr lang="en-US" sz="4000" dirty="0"/>
              <a:t>• Online result viewing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114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65936" y="1429320"/>
            <a:ext cx="13156128" cy="1355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SYSTEM ARCHITECTURE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3B905F-F2D4-6D19-EB25-66A6DA4EA2A2}"/>
              </a:ext>
            </a:extLst>
          </p:cNvPr>
          <p:cNvSpPr txBox="1"/>
          <p:nvPr/>
        </p:nvSpPr>
        <p:spPr>
          <a:xfrm>
            <a:off x="3623310" y="3201283"/>
            <a:ext cx="11041380" cy="461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/>
              <a:t>Frontend: </a:t>
            </a:r>
            <a:r>
              <a:rPr lang="en-IN" sz="4000" dirty="0"/>
              <a:t>Angular for user interface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/>
              <a:t>Backend: </a:t>
            </a:r>
            <a:r>
              <a:rPr lang="en-IN" sz="4000" dirty="0"/>
              <a:t>Node.js and Express.js for logic and APIs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/>
              <a:t>Database: </a:t>
            </a:r>
            <a:r>
              <a:rPr lang="en-IN" sz="4000" dirty="0"/>
              <a:t>MongoDB for result and user data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/>
              <a:t>Architecture: </a:t>
            </a:r>
            <a:r>
              <a:rPr lang="en-IN" sz="4000" dirty="0"/>
              <a:t>Client-Server model using RESTful APIs</a:t>
            </a:r>
          </a:p>
        </p:txBody>
      </p:sp>
    </p:spTree>
    <p:extLst>
      <p:ext uri="{BB962C8B-B14F-4D97-AF65-F5344CB8AC3E}">
        <p14:creationId xmlns:p14="http://schemas.microsoft.com/office/powerpoint/2010/main" val="2590365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57347" y="750348"/>
            <a:ext cx="13232328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IMPLEMENTATION AND METHODOLOGY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EFEA7ECC-F522-16E5-4239-0B7A01E016A6}"/>
              </a:ext>
            </a:extLst>
          </p:cNvPr>
          <p:cNvSpPr txBox="1"/>
          <p:nvPr/>
        </p:nvSpPr>
        <p:spPr>
          <a:xfrm>
            <a:off x="1080036" y="1189980"/>
            <a:ext cx="8736528" cy="1267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endParaRPr lang="en-US" sz="5400" b="1" dirty="0">
              <a:solidFill>
                <a:schemeClr val="tx2">
                  <a:lumMod val="75000"/>
                </a:schemeClr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F6EA373-6EA7-539C-75DE-4F25B90DB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595453"/>
              </p:ext>
            </p:extLst>
          </p:nvPr>
        </p:nvGraphicFramePr>
        <p:xfrm>
          <a:off x="1316860" y="2660112"/>
          <a:ext cx="15654280" cy="579120"/>
        </p:xfrm>
        <a:graphic>
          <a:graphicData uri="http://schemas.openxmlformats.org/drawingml/2006/table">
            <a:tbl>
              <a:tblPr/>
              <a:tblGrid>
                <a:gridCol w="7827140">
                  <a:extLst>
                    <a:ext uri="{9D8B030D-6E8A-4147-A177-3AD203B41FA5}">
                      <a16:colId xmlns:a16="http://schemas.microsoft.com/office/drawing/2014/main" val="169577340"/>
                    </a:ext>
                  </a:extLst>
                </a:gridCol>
                <a:gridCol w="7827140">
                  <a:extLst>
                    <a:ext uri="{9D8B030D-6E8A-4147-A177-3AD203B41FA5}">
                      <a16:colId xmlns:a16="http://schemas.microsoft.com/office/drawing/2014/main" val="14478149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sz="32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32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1952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5B28852-DA9A-C926-343A-86432E9DC70C}"/>
              </a:ext>
            </a:extLst>
          </p:cNvPr>
          <p:cNvSpPr txBox="1"/>
          <p:nvPr/>
        </p:nvSpPr>
        <p:spPr>
          <a:xfrm>
            <a:off x="3352800" y="3239232"/>
            <a:ext cx="11582400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600" b="1" dirty="0"/>
              <a:t>• Angular </a:t>
            </a:r>
            <a:r>
              <a:rPr lang="en-IN" sz="3600" dirty="0"/>
              <a:t>– frontend UI</a:t>
            </a:r>
          </a:p>
          <a:p>
            <a:pPr>
              <a:lnSpc>
                <a:spcPct val="150000"/>
              </a:lnSpc>
            </a:pPr>
            <a:r>
              <a:rPr lang="en-IN" sz="3600" dirty="0"/>
              <a:t>• </a:t>
            </a:r>
            <a:r>
              <a:rPr lang="en-IN" sz="3600" b="1" dirty="0"/>
              <a:t>Node.js &amp; Express.js </a:t>
            </a:r>
            <a:r>
              <a:rPr lang="en-IN" sz="3600" dirty="0"/>
              <a:t>– backend server and APIs</a:t>
            </a:r>
          </a:p>
          <a:p>
            <a:pPr>
              <a:lnSpc>
                <a:spcPct val="150000"/>
              </a:lnSpc>
            </a:pPr>
            <a:r>
              <a:rPr lang="en-IN" sz="3600" b="1" dirty="0"/>
              <a:t>• MongoDB </a:t>
            </a:r>
            <a:r>
              <a:rPr lang="en-IN" sz="3600" dirty="0"/>
              <a:t>– database management</a:t>
            </a:r>
          </a:p>
          <a:p>
            <a:pPr>
              <a:lnSpc>
                <a:spcPct val="150000"/>
              </a:lnSpc>
            </a:pPr>
            <a:r>
              <a:rPr lang="en-IN" sz="3600" dirty="0"/>
              <a:t>• </a:t>
            </a:r>
            <a:r>
              <a:rPr lang="en-IN" sz="3600" b="1" dirty="0"/>
              <a:t>CRUD </a:t>
            </a:r>
            <a:r>
              <a:rPr lang="en-IN" sz="3600" dirty="0"/>
              <a:t>operations for result management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555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9704D-E427-E077-FCC8-72046CBA3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911900-6361-2FBE-B479-E4A523EC6FAE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47723DA-B79D-05EA-5B07-5C80CA0FF383}"/>
              </a:ext>
            </a:extLst>
          </p:cNvPr>
          <p:cNvSpPr txBox="1"/>
          <p:nvPr/>
        </p:nvSpPr>
        <p:spPr>
          <a:xfrm>
            <a:off x="4953000" y="243464"/>
            <a:ext cx="10363200" cy="13245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FOLDER STRUCTURE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F68A1E2-CB07-8480-DBD4-CD069E23D74F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AA31B58B-1CA5-64D5-F235-331AB5B0B01F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9815200-1DC3-5276-728A-AAF42582020D}"/>
              </a:ext>
            </a:extLst>
          </p:cNvPr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7A854A-BAE8-6D2A-FF7B-6B5DE471BA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686521"/>
            <a:ext cx="4219575" cy="522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6C955B-ECFF-51D5-747C-552058BDBD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1802" y="1629787"/>
            <a:ext cx="4018598" cy="7532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210A45-19A8-28E8-27F8-C45303368F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5231" y="1568057"/>
            <a:ext cx="4018598" cy="77302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0104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53000" y="243464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OUTPUTS</a:t>
            </a:r>
          </a:p>
        </p:txBody>
      </p:sp>
      <p:sp>
        <p:nvSpPr>
          <p:cNvPr id="8" name="Freeform 8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D3A7027-CD00-8A7B-964A-4BD839BE4E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2609787"/>
            <a:ext cx="11539123" cy="612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975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53000" y="243464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OUTPUTS</a:t>
            </a:r>
          </a:p>
        </p:txBody>
      </p:sp>
      <p:sp>
        <p:nvSpPr>
          <p:cNvPr id="8" name="Freeform 8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04B3AC-14A3-8D97-99FF-F38B566F29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149" y="1866902"/>
            <a:ext cx="8607203" cy="45719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02B177-4C88-B2CA-9311-BEB5FC5C723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0" y="4371047"/>
            <a:ext cx="8328431" cy="4426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53000" y="243464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OUTPUTS</a:t>
            </a:r>
          </a:p>
        </p:txBody>
      </p:sp>
      <p:sp>
        <p:nvSpPr>
          <p:cNvPr id="8" name="Freeform 8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72E620-CA4A-7A07-0B03-AE131F664A6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10676"/>
            <a:ext cx="8481384" cy="4482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ACD411-3CF3-A48E-BE9A-F009BB7D609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916" y="4314563"/>
            <a:ext cx="8427684" cy="44827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132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53000" y="243464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OUTPUTS</a:t>
            </a:r>
          </a:p>
        </p:txBody>
      </p:sp>
      <p:sp>
        <p:nvSpPr>
          <p:cNvPr id="8" name="Freeform 8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0CDFD0-ABFF-D777-2C86-4E3971AFFD4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96" y="1625221"/>
            <a:ext cx="8530803" cy="4263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F669C7-F36A-D4E4-DAFF-D750321C33A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5251" y="4610100"/>
            <a:ext cx="8328445" cy="4131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2981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53000" y="243464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OUTPUTS</a:t>
            </a:r>
          </a:p>
        </p:txBody>
      </p:sp>
      <p:sp>
        <p:nvSpPr>
          <p:cNvPr id="8" name="Freeform 8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B5477E-4A50-7FF4-505F-6EDF1356E51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25" y="1776016"/>
            <a:ext cx="8838175" cy="386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B8B9A5-BF10-42F3-6130-91324234C67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907" y="4669600"/>
            <a:ext cx="8281533" cy="4283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438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53000" y="243464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OUTPUTS</a:t>
            </a:r>
          </a:p>
        </p:txBody>
      </p:sp>
      <p:sp>
        <p:nvSpPr>
          <p:cNvPr id="8" name="Freeform 8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FEDE3E-39B4-2135-E15B-1277AA4B62E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8719" y="2217256"/>
            <a:ext cx="10993730" cy="57331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1643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5EF92-CCB6-041E-3BBD-7C938510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195A25E-7353-1D44-C87A-0D55171C64DE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0C8CF21-EB85-2BB1-2B6F-15E3CE9F0812}"/>
              </a:ext>
            </a:extLst>
          </p:cNvPr>
          <p:cNvSpPr txBox="1"/>
          <p:nvPr/>
        </p:nvSpPr>
        <p:spPr>
          <a:xfrm>
            <a:off x="4953000" y="243464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OUTPUTS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942AF04-4598-0A8B-0BB9-11B2F91D1C3A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7E50410B-9426-B03E-1292-AC75B473489D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414C980-51CE-4BC2-29DD-185DBD2CE996}"/>
              </a:ext>
            </a:extLst>
          </p:cNvPr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064D48-56C8-CBBB-BAB7-021A537EE0B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833" y="2012634"/>
            <a:ext cx="14513086" cy="63705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2741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AAFCF-25EE-0FDF-8768-0C793480C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A1BCC7-2C4B-88BC-D759-5689D1D8311F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7E1529C-2B0C-A44E-232C-48347D3001F4}"/>
              </a:ext>
            </a:extLst>
          </p:cNvPr>
          <p:cNvSpPr txBox="1"/>
          <p:nvPr/>
        </p:nvSpPr>
        <p:spPr>
          <a:xfrm>
            <a:off x="4953000" y="243464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OUTPUTS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3AB3788-8C8A-EA11-2037-C52D66C86DDB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2D38A6F2-8611-EF76-8FD7-E31BB29D75EE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1566AD5-59EF-180E-8A8F-C21A1E0DC3D5}"/>
              </a:ext>
            </a:extLst>
          </p:cNvPr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0D2793-1296-97F0-DCF0-269C702227C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456" y="2331226"/>
            <a:ext cx="13166256" cy="63336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6758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19558-4664-D59E-7534-09040A242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4998D4-F995-EDEE-F14D-8D913DE71230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0A0F9D6-DB5D-4C85-7AC7-B096A68487FE}"/>
              </a:ext>
            </a:extLst>
          </p:cNvPr>
          <p:cNvSpPr txBox="1"/>
          <p:nvPr/>
        </p:nvSpPr>
        <p:spPr>
          <a:xfrm>
            <a:off x="4953000" y="243464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OUTPUTS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36C1856-EAEE-FFDB-ABEB-BC1308B74DC9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D1DDDA0F-0627-3F8D-97FF-C968D901F70E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6D42839-3869-0493-DCFB-0D09D66E97B8}"/>
              </a:ext>
            </a:extLst>
          </p:cNvPr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E8B3D3-E90E-A85E-E70D-E802800FA0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116631"/>
            <a:ext cx="8640128" cy="70875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0082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3F853-F2FA-9A49-2648-7477229F5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E9DDCFD-CF05-8130-9FC2-4E37B4264626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420EEF9-652B-4519-8DC8-BDF7A26B3B19}"/>
              </a:ext>
            </a:extLst>
          </p:cNvPr>
          <p:cNvSpPr txBox="1"/>
          <p:nvPr/>
        </p:nvSpPr>
        <p:spPr>
          <a:xfrm>
            <a:off x="4953000" y="243464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OUTPUTS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C9D23F5-2158-682C-36C8-9210BC56E1F5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E4F12871-C9DC-9724-3743-3F04A97B6D0B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2DB0050-3F7C-320E-01C8-ABDC9250FAC3}"/>
              </a:ext>
            </a:extLst>
          </p:cNvPr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9CC5B4-09BE-513A-E50C-E1E31778FE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880126"/>
            <a:ext cx="7666355" cy="69979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3970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F6F3DA-F9CF-6CE9-EA2B-D7BB869B337A}"/>
              </a:ext>
            </a:extLst>
          </p:cNvPr>
          <p:cNvSpPr txBox="1"/>
          <p:nvPr/>
        </p:nvSpPr>
        <p:spPr>
          <a:xfrm>
            <a:off x="4541415" y="914804"/>
            <a:ext cx="9921240" cy="1378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60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FUTURE ENHANCEMENT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4EFD0-F239-D76F-5B61-A713915B6494}"/>
              </a:ext>
            </a:extLst>
          </p:cNvPr>
          <p:cNvSpPr txBox="1"/>
          <p:nvPr/>
        </p:nvSpPr>
        <p:spPr>
          <a:xfrm>
            <a:off x="3103240" y="2293708"/>
            <a:ext cx="12081519" cy="646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dirty="0"/>
              <a:t>• Add graphical performance charts</a:t>
            </a:r>
          </a:p>
          <a:p>
            <a:pPr>
              <a:lnSpc>
                <a:spcPct val="150000"/>
              </a:lnSpc>
            </a:pPr>
            <a:endParaRPr lang="en-IN" sz="4000" dirty="0"/>
          </a:p>
          <a:p>
            <a:pPr>
              <a:lnSpc>
                <a:spcPct val="150000"/>
              </a:lnSpc>
            </a:pPr>
            <a:r>
              <a:rPr lang="en-IN" sz="4000" dirty="0"/>
              <a:t>• Provide cloud-based data backup</a:t>
            </a:r>
          </a:p>
          <a:p>
            <a:pPr>
              <a:lnSpc>
                <a:spcPct val="150000"/>
              </a:lnSpc>
            </a:pPr>
            <a:endParaRPr lang="en-IN" sz="4000" dirty="0"/>
          </a:p>
          <a:p>
            <a:pPr>
              <a:lnSpc>
                <a:spcPct val="150000"/>
              </a:lnSpc>
            </a:pPr>
            <a:r>
              <a:rPr lang="en-IN" sz="4000" dirty="0"/>
              <a:t>• Generate downloadable reports (PDF/Excel)</a:t>
            </a:r>
          </a:p>
          <a:p>
            <a:pPr>
              <a:lnSpc>
                <a:spcPct val="150000"/>
              </a:lnSpc>
            </a:pPr>
            <a:endParaRPr lang="en-IN" sz="4000" dirty="0"/>
          </a:p>
          <a:p>
            <a:pPr>
              <a:lnSpc>
                <a:spcPct val="150000"/>
              </a:lnSpc>
            </a:pPr>
            <a:r>
              <a:rPr lang="en-IN" sz="4000" dirty="0"/>
              <a:t>• Integrate AI analytics for student performance trends</a:t>
            </a:r>
          </a:p>
        </p:txBody>
      </p:sp>
    </p:spTree>
    <p:extLst>
      <p:ext uri="{BB962C8B-B14F-4D97-AF65-F5344CB8AC3E}">
        <p14:creationId xmlns:p14="http://schemas.microsoft.com/office/powerpoint/2010/main" val="2149750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F6F3DA-F9CF-6CE9-EA2B-D7BB869B337A}"/>
              </a:ext>
            </a:extLst>
          </p:cNvPr>
          <p:cNvSpPr txBox="1"/>
          <p:nvPr/>
        </p:nvSpPr>
        <p:spPr>
          <a:xfrm>
            <a:off x="4267200" y="616212"/>
            <a:ext cx="9921240" cy="1378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60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71D037-0B20-4AD7-D255-08E5DB0D9AAD}"/>
              </a:ext>
            </a:extLst>
          </p:cNvPr>
          <p:cNvSpPr txBox="1"/>
          <p:nvPr/>
        </p:nvSpPr>
        <p:spPr>
          <a:xfrm>
            <a:off x="2800833" y="2960354"/>
            <a:ext cx="14049210" cy="5823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Student Result Management System successfully digitalizes result handling.</a:t>
            </a:r>
          </a:p>
          <a:p>
            <a:pPr>
              <a:lnSpc>
                <a:spcPct val="150000"/>
              </a:lnSpc>
            </a:pPr>
            <a:endParaRPr lang="en-US" sz="36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It improves data accuracy, reduces errors, and enhances transparency.</a:t>
            </a:r>
          </a:p>
          <a:p>
            <a:pPr>
              <a:lnSpc>
                <a:spcPct val="150000"/>
              </a:lnSpc>
            </a:pPr>
            <a:endParaRPr lang="en-US" sz="36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Built using the MEAN stack, it provides a modern, scalable, and efficient solution</a:t>
            </a:r>
          </a:p>
        </p:txBody>
      </p:sp>
    </p:spTree>
    <p:extLst>
      <p:ext uri="{BB962C8B-B14F-4D97-AF65-F5344CB8AC3E}">
        <p14:creationId xmlns:p14="http://schemas.microsoft.com/office/powerpoint/2010/main" val="3828681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8325" y="4041844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362</Words>
  <Application>Microsoft Office PowerPoint</Application>
  <PresentationFormat>Custom</PresentationFormat>
  <Paragraphs>93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Garet Bold</vt:lpstr>
      <vt:lpstr>Alexandria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Minimalist Professional Project Presentation</dc:title>
  <dc:creator>kirran ST</dc:creator>
  <cp:lastModifiedBy>Kirran S.T</cp:lastModifiedBy>
  <cp:revision>7</cp:revision>
  <dcterms:created xsi:type="dcterms:W3CDTF">2006-08-16T00:00:00Z</dcterms:created>
  <dcterms:modified xsi:type="dcterms:W3CDTF">2025-11-11T17:26:50Z</dcterms:modified>
  <dc:identifier>DAG13ywwu8c</dc:identifier>
</cp:coreProperties>
</file>